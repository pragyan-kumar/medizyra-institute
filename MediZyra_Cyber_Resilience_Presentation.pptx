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mer\Desktop\New folder (5)\Final\New project\presentation-assets\doctor-pati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74A">
              <a:alpha val="52000"/>
            </a:srgbClr>
          </a:solidFill>
          <a:ln w="12700">
            <a:solidFill>
              <a:srgbClr val="0C274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0C274A"/>
          </a:solidFill>
          <a:ln w="12700">
            <a:solidFill>
              <a:srgbClr val="0C274A">
                <a:alpha val="0"/>
              </a:srgbClr>
            </a:solidFill>
            <a:prstDash val="solid"/>
          </a:ln>
        </p:spPr>
      </p:sp>
      <p:pic>
        <p:nvPicPr>
          <p:cNvPr id="5" name="Image 1" descr="C:\Users\gamer\Desktop\New folder (5)\Final\New project\src\assets\reference\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658368" cy="658368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143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MediZyra Healthcare Solutions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58368" y="1783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E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hospital operations demo for cyber-resilient care delivery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58368" y="25146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 focused on why the system was built, how it works, and how local-only operation helps reduce ransomware exposure during demonstration and training use.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58368" y="41605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9EEAF2">
                <a:alpha val="4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4480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Name: __________________________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 No / ID: __________________________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/ Department: ____________________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8368" y="58978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Cyber-resilient healthcare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RATIONALE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was created</a:t>
            </a:r>
            <a:endParaRPr lang="en-US" sz="2400" dirty="0"/>
          </a:p>
        </p:txBody>
      </p:sp>
      <p:pic>
        <p:nvPicPr>
          <p:cNvPr id="6" name="Image 0" descr="C:\Users\gamer\Desktop\New folder (5)\Final\New project\presentation-assets\cyber-att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868680"/>
            <a:ext cx="45720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489204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0C274A"/>
          </a:solidFill>
          <a:ln w="12700">
            <a:solidFill>
              <a:srgbClr val="0C27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50608" y="51023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reason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50608" y="5340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hospital system demo that can run locally without depending on the internet, reducing the attack surface exposed during demonstration and helping teams think about continuity during ransomware-style disruption.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49808" y="1527048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41732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WannaCry showed how a hospital cyberattack can disrupt appointments, records access, and clinical continuity.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749808" y="2240280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130552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is a high-impact target because downtime affects both business operations and patient care.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749808" y="2953512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843784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demonstrates a safer local workflow where the demo stack remains usable without external internet dependence.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749808" y="3666744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557016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aim is not to claim perfect immunity, but to illustrate continuity-focused design and reduced exposure in academic demos.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749808" y="4983480"/>
            <a:ext cx="5440680" cy="1005840"/>
          </a:xfrm>
          <a:prstGeom prst="roundRect">
            <a:avLst>
              <a:gd name="adj" fmla="val 4545"/>
            </a:avLst>
          </a:prstGeom>
          <a:solidFill>
            <a:srgbClr val="EAF4FB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i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for presentation: hospitals need systems that keep essential workflows running even when cyber incidents interrupt connected infrastructure.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cyberattacks make resilience a patient-safety issue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WannaCry impact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7556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NAO reported disruption at at least 34% of NHS trusts in England, with at least 81 of 236 trusts affected and 595 GP practices infected.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297680" y="114300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sector risk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HHS notes that cyberattacks on hospitals and health systems more than doubled from 2016 to 2021, stressing operational continuity and patient safety.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955280" y="114300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lesson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83880" y="17556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CISA recommends offline backups and strong patching discipline. This project applies the same continuity mindset to a local hospital workflow demo.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3383280"/>
            <a:ext cx="10972800" cy="2377440"/>
          </a:xfrm>
          <a:prstGeom prst="roundRect">
            <a:avLst>
              <a:gd name="adj" fmla="val 3077"/>
            </a:avLst>
          </a:prstGeom>
          <a:solidFill>
            <a:srgbClr val="0C274A"/>
          </a:solidFill>
          <a:ln w="12700">
            <a:solidFill>
              <a:srgbClr val="0C27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75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MediZyra responds in this demo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178808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069080"/>
            <a:ext cx="9802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EA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MongoDB database keeps records available without internet access.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462272"/>
            <a:ext cx="9802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EA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workflows continue through patient, admin, and doctor portals on a single local machine.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14400" y="4965192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855464"/>
            <a:ext cx="9802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EA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data persists across restarts, supporting continuity during rehearsals or outages.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914400" y="5358384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48656"/>
            <a:ext cx="9802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EAF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demonstrates resilience thinking for hospitals: continue essential operations even when connected systems become risky or unavailable.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architecture for a hospital operations demo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intentionally designed to work on a local machine: UI, API, and database all stay inside the demo environment.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391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077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7647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" y="4389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web portals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880360"/>
            <a:ext cx="685800" cy="365760"/>
          </a:xfrm>
          <a:prstGeom prst="chevron">
            <a:avLst/>
          </a:prstGeom>
          <a:solidFill>
            <a:srgbClr val="9EEAF2"/>
          </a:solidFill>
          <a:ln w="12700">
            <a:solidFill>
              <a:srgbClr val="9EEA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176272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2468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React + Vite frontend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12464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in the browser but serves a local hospital workflow only.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2880360"/>
            <a:ext cx="685800" cy="365760"/>
          </a:xfrm>
          <a:prstGeom prst="chevron">
            <a:avLst/>
          </a:prstGeom>
          <a:solidFill>
            <a:srgbClr val="9EEAF2"/>
          </a:solidFill>
          <a:ln w="12700">
            <a:solidFill>
              <a:srgbClr val="9E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2176272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468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Express 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85432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authentication, triage updates, doctor notes, and role checks.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62288" y="2880360"/>
            <a:ext cx="685800" cy="365760"/>
          </a:xfrm>
          <a:prstGeom prst="chevron">
            <a:avLst/>
          </a:prstGeom>
          <a:solidFill>
            <a:srgbClr val="9EEAF2"/>
          </a:solidFill>
          <a:ln w="12700">
            <a:solidFill>
              <a:srgbClr val="9EEA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2176272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2468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MongoDB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03536" y="2999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demo records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14400" y="4983480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51937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idea for the demo: keep the operational loop local, reduce unnecessary external dependency, and preserve continuity even if internet-connected environments become unsafe or unavailable.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portal: request care and track the treatment journey</a:t>
            </a:r>
            <a:endParaRPr lang="en-US" sz="2400" dirty="0"/>
          </a:p>
        </p:txBody>
      </p:sp>
      <p:pic>
        <p:nvPicPr>
          <p:cNvPr id="6" name="Image 0" descr="C:\Users\gamer\Desktop\New folder (5)\Final\New project\presentation-assets\hospital-discus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51560"/>
            <a:ext cx="361188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patient powers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86384" y="177393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664208"/>
            <a:ext cx="6053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with a patient account or self-register locally.</a:t>
            </a:r>
            <a:endParaRPr lang="en-US" sz="1310" dirty="0"/>
          </a:p>
        </p:txBody>
      </p:sp>
      <p:sp>
        <p:nvSpPr>
          <p:cNvPr id="10" name="Shape 7"/>
          <p:cNvSpPr/>
          <p:nvPr/>
        </p:nvSpPr>
        <p:spPr>
          <a:xfrm>
            <a:off x="786384" y="2304288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2194560"/>
            <a:ext cx="6053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specialists and inspect doctor profiles before booking.</a:t>
            </a:r>
            <a:endParaRPr lang="en-US" sz="1310" dirty="0"/>
          </a:p>
        </p:txBody>
      </p:sp>
      <p:sp>
        <p:nvSpPr>
          <p:cNvPr id="12" name="Shape 9"/>
          <p:cNvSpPr/>
          <p:nvPr/>
        </p:nvSpPr>
        <p:spPr>
          <a:xfrm>
            <a:off x="786384" y="2834640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2724912"/>
            <a:ext cx="6053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date, slot, consultation mode, and symptoms while raising a request.</a:t>
            </a:r>
            <a:endParaRPr lang="en-US" sz="1310" dirty="0"/>
          </a:p>
        </p:txBody>
      </p:sp>
      <p:sp>
        <p:nvSpPr>
          <p:cNvPr id="14" name="Shape 11"/>
          <p:cNvSpPr/>
          <p:nvPr/>
        </p:nvSpPr>
        <p:spPr>
          <a:xfrm>
            <a:off x="786384" y="3364992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" y="3255264"/>
            <a:ext cx="6053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appointment history, admin intake notes, doctor notes, prescriptions, and follow-up plans.</a:t>
            </a:r>
            <a:endParaRPr lang="en-US" sz="1310" dirty="0"/>
          </a:p>
        </p:txBody>
      </p:sp>
      <p:sp>
        <p:nvSpPr>
          <p:cNvPr id="16" name="Shape 13"/>
          <p:cNvSpPr/>
          <p:nvPr/>
        </p:nvSpPr>
        <p:spPr>
          <a:xfrm>
            <a:off x="786384" y="3895344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3785616"/>
            <a:ext cx="6053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only meaningful upcoming visits: requested and confirmed slots, not cancelled or completed ones.</a:t>
            </a:r>
            <a:endParaRPr lang="en-US" sz="1310" dirty="0"/>
          </a:p>
        </p:txBody>
      </p:sp>
      <p:sp>
        <p:nvSpPr>
          <p:cNvPr id="18" name="Shape 15"/>
          <p:cNvSpPr/>
          <p:nvPr/>
        </p:nvSpPr>
        <p:spPr>
          <a:xfrm>
            <a:off x="749808" y="4754880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5010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value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9264" y="523036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 gets a simple journey: request care, wait for triage, attend the visit, and keep a clean digital record of what happened next.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portal: coordinate triage and control hospital-side setup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349300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  <a:effectLst>
            <a:outerShdw sx="100000" sy="100000" kx="0" ky="0" algn="bl" rotWithShape="0" blurRad="25400" dist="50800" dir="2700000">
              <a:srgbClr val="A8C3D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4356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81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81912" y="14173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board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81912" y="1746504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handles queue coordination and editable request details.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9264" y="2331720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2219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patient requests with contact details, reason, and symptoms.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69264" y="2752344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642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date, slot, consultation mode, and intake note, then save those changes to the local database.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69264" y="3172968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306324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requested appointments.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69264" y="3593592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48386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 requested or confirmed appointments when needed.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343400" y="1234440"/>
            <a:ext cx="349300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  <a:effectLst>
            <a:outerShdw sx="100000" sy="100000" kx="0" ky="0" algn="bl" rotWithShape="0" blurRad="25400" dist="50800" dir="2700000">
              <a:srgbClr val="A8C3D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4356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481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14173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controls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1746504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Separated control page for setup and communication workflows.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99432" y="2331720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22219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specialist profiles, fees, availability, contact details, and portal-linked doctor accounts.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599432" y="2752344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2642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patient messages in the support inbox.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599432" y="3172968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06324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 cleaner separation between triage work and configuration work.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599432" y="3593592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348386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demo organized for presentation and evaluation.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7973568" y="1234440"/>
            <a:ext cx="349300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  <a:effectLst>
            <a:outerShdw sx="100000" sy="100000" kx="0" ky="0" algn="bl" rotWithShape="0" blurRad="25400" dist="50800" dir="2700000">
              <a:srgbClr val="A8C3D8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56448" y="14356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4813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842248" y="14173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limits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842248" y="1746504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hierarchy protects clinical ownership and prevents bad state changes.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0" y="2331720"/>
            <a:ext cx="100584" cy="100584"/>
          </a:xfrm>
          <a:prstGeom prst="ellipse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22219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cannot complete a consultation.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8229600" y="2752344"/>
            <a:ext cx="100584" cy="100584"/>
          </a:xfrm>
          <a:prstGeom prst="ellipse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94192" y="2642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cannot cancel an appointment after it has already been completed.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8229600" y="3172968"/>
            <a:ext cx="100584" cy="100584"/>
          </a:xfrm>
          <a:prstGeom prst="ellipse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306324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edits are allowed only while a request is still operationally active.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8229600" y="3593592"/>
            <a:ext cx="100584" cy="100584"/>
          </a:xfrm>
          <a:prstGeom prst="ellipse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4192" y="348386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mirrors better real-world control discipline inside care systems.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1005840" y="5166360"/>
            <a:ext cx="10058400" cy="502920"/>
          </a:xfrm>
          <a:prstGeom prst="roundRect">
            <a:avLst>
              <a:gd name="adj" fmla="val 9091"/>
            </a:avLst>
          </a:prstGeom>
          <a:solidFill>
            <a:srgbClr val="0C274A"/>
          </a:solidFill>
          <a:ln w="12700">
            <a:solidFill>
              <a:srgbClr val="0C27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07008" y="532180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role in one line: coordinate the patient queue, keep records current, and prepare the case for the doctor without taking over clinical closure.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portal: clinical ownership begins after triage</a:t>
            </a:r>
            <a:endParaRPr lang="en-US" sz="2400" dirty="0"/>
          </a:p>
        </p:txBody>
      </p:sp>
      <p:pic>
        <p:nvPicPr>
          <p:cNvPr id="6" name="Image 0" descr="C:\Users\gamer\Desktop\New folder (5)\Final\New project\presentation-assets\doctor-pati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60120"/>
            <a:ext cx="3584448" cy="5010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doctor powers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22960" y="1773936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66420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only the appointments assigned to the signed-in doctor.</a:t>
            </a:r>
            <a:endParaRPr lang="en-US" sz="1310" dirty="0"/>
          </a:p>
        </p:txBody>
      </p:sp>
      <p:sp>
        <p:nvSpPr>
          <p:cNvPr id="10" name="Shape 7"/>
          <p:cNvSpPr/>
          <p:nvPr/>
        </p:nvSpPr>
        <p:spPr>
          <a:xfrm>
            <a:off x="822960" y="2304288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194560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 requested visit when the doctor is ready to take it forward.</a:t>
            </a:r>
            <a:endParaRPr lang="en-US" sz="131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72491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a confirmed visit as completed only after entering a consultation summary.</a:t>
            </a:r>
            <a:endParaRPr lang="en-US" sz="1310" dirty="0"/>
          </a:p>
        </p:txBody>
      </p:sp>
      <p:sp>
        <p:nvSpPr>
          <p:cNvPr id="14" name="Shape 11"/>
          <p:cNvSpPr/>
          <p:nvPr/>
        </p:nvSpPr>
        <p:spPr>
          <a:xfrm>
            <a:off x="822960" y="3364992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255264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prescription items and a follow-up date as part of the completion flow.</a:t>
            </a:r>
            <a:endParaRPr lang="en-US" sz="1310" dirty="0"/>
          </a:p>
        </p:txBody>
      </p:sp>
      <p:sp>
        <p:nvSpPr>
          <p:cNvPr id="16" name="Shape 13"/>
          <p:cNvSpPr/>
          <p:nvPr/>
        </p:nvSpPr>
        <p:spPr>
          <a:xfrm>
            <a:off x="822960" y="3895344"/>
            <a:ext cx="100584" cy="100584"/>
          </a:xfrm>
          <a:prstGeom prst="ellipse">
            <a:avLst/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785616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cannot cancel completed cases, preserving logical record integrity.</a:t>
            </a:r>
            <a:endParaRPr lang="en-US" sz="1310" dirty="0"/>
          </a:p>
        </p:txBody>
      </p:sp>
      <p:sp>
        <p:nvSpPr>
          <p:cNvPr id="18" name="Shape 15"/>
          <p:cNvSpPr/>
          <p:nvPr/>
        </p:nvSpPr>
        <p:spPr>
          <a:xfrm>
            <a:off x="786384" y="4800600"/>
            <a:ext cx="658368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CF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value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87552" y="523036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doctor becomes the clinical finisher of the workflow, which is why only the doctor can move a case from confirmed to completed.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LOGIC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lifecycle and role hierarchy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10789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now enforces a clearer real-world power structure for status changes.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7627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44368" y="2130552"/>
            <a:ext cx="658368" cy="347472"/>
          </a:xfrm>
          <a:prstGeom prst="chevron">
            <a:avLst/>
          </a:prstGeom>
          <a:solidFill>
            <a:srgbClr val="9EEAF2"/>
          </a:solidFill>
          <a:ln w="12700">
            <a:solidFill>
              <a:srgbClr val="9EEA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01168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2F79C6"/>
          </a:solidFill>
          <a:ln w="12700">
            <a:solidFill>
              <a:srgbClr val="2F79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7627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42432" y="2130552"/>
            <a:ext cx="658368" cy="347472"/>
          </a:xfrm>
          <a:prstGeom prst="chevron">
            <a:avLst/>
          </a:prstGeom>
          <a:solidFill>
            <a:srgbClr val="9EEAF2"/>
          </a:solidFill>
          <a:ln w="12700">
            <a:solidFill>
              <a:srgbClr val="9EEA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01168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27A676"/>
          </a:solidFill>
          <a:ln w="12700">
            <a:solidFill>
              <a:srgbClr val="27A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7627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2633472"/>
            <a:ext cx="0" cy="960120"/>
          </a:xfrm>
          <a:prstGeom prst="line">
            <a:avLst/>
          </a:prstGeom>
          <a:noFill/>
          <a:ln w="12700">
            <a:solidFill>
              <a:srgbClr val="D35D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39312" y="3675888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D35D6E"/>
          </a:solidFill>
          <a:ln w="12700">
            <a:solidFill>
              <a:srgbClr val="D35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38404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645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or Doctor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9824" y="1645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05072" y="288036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only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(from requested or confirmed)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4681728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572000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 -&gt; Confirmed can be done by admin or doctor.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873752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-&gt; Completed can be done only by the doctor handling the patient.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5285232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5175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Requested/Confirmed -&gt; Cancelled can be done only by admin.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5586984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477256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appointments are locked from illogical cancellation or re-triage.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" y="588873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5779008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appointments do not count as upcoming visits in patient view.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demo proves and where it can go next</a:t>
            </a:r>
            <a:endParaRPr lang="en-US" sz="2400" dirty="0"/>
          </a:p>
        </p:txBody>
      </p:sp>
      <p:pic>
        <p:nvPicPr>
          <p:cNvPr id="6" name="Image 0" descr="C:\Users\gamer\Desktop\New folder (5)\Final\New project\presentation-assets\hospital-discus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078992"/>
            <a:ext cx="420624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strengths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04672" y="177393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1664208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locally with persistent data, so the demo remains usable without internet dependence.</a:t>
            </a:r>
            <a:endParaRPr lang="en-US" sz="1290" dirty="0"/>
          </a:p>
        </p:txBody>
      </p:sp>
      <p:sp>
        <p:nvSpPr>
          <p:cNvPr id="10" name="Shape 7"/>
          <p:cNvSpPr/>
          <p:nvPr/>
        </p:nvSpPr>
        <p:spPr>
          <a:xfrm>
            <a:off x="804672" y="2249424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2139696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clear separation of responsibility across patient, admin, and doctor workflows.</a:t>
            </a:r>
            <a:endParaRPr lang="en-US" sz="1290" dirty="0"/>
          </a:p>
        </p:txBody>
      </p:sp>
      <p:sp>
        <p:nvSpPr>
          <p:cNvPr id="12" name="Shape 9"/>
          <p:cNvSpPr/>
          <p:nvPr/>
        </p:nvSpPr>
        <p:spPr>
          <a:xfrm>
            <a:off x="804672" y="2724912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615184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status rules that better reflect real hospital process control.</a:t>
            </a:r>
            <a:endParaRPr lang="en-US" sz="1290" dirty="0"/>
          </a:p>
        </p:txBody>
      </p:sp>
      <p:sp>
        <p:nvSpPr>
          <p:cNvPr id="14" name="Shape 11"/>
          <p:cNvSpPr/>
          <p:nvPr/>
        </p:nvSpPr>
        <p:spPr>
          <a:xfrm>
            <a:off x="804672" y="3200400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090672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as an academic demonstration of cyber resilience, continuity planning, and secure workflow thinking.</a:t>
            </a:r>
            <a:endParaRPr lang="en-US" sz="1290" dirty="0"/>
          </a:p>
        </p:txBody>
      </p:sp>
      <p:sp>
        <p:nvSpPr>
          <p:cNvPr id="16" name="Text 13"/>
          <p:cNvSpPr/>
          <p:nvPr/>
        </p:nvSpPr>
        <p:spPr>
          <a:xfrm>
            <a:off x="749808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next enhancements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804672" y="4608576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4498848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encrypted local backups and recovery snapshots.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804672" y="4946904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4837176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audit logs for every role-driven change.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804672" y="5285232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5175504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offline export of appointment summaries for continuity packs.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804672" y="5623560"/>
            <a:ext cx="100584" cy="100584"/>
          </a:xfrm>
          <a:prstGeom prst="ellipse">
            <a:avLst/>
          </a:prstGeom>
          <a:solidFill>
            <a:srgbClr val="E5B85A"/>
          </a:solidFill>
          <a:ln w="12700">
            <a:solidFill>
              <a:srgbClr val="E5B8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5513832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the project into a fuller cybersecurity-aware hospital operations platform.</a:t>
            </a:r>
            <a:endParaRPr lang="en-US" sz="123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AFE"/>
          </a:solidFill>
          <a:ln w="12700">
            <a:solidFill>
              <a:srgbClr val="F6F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and image credits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and healthcare references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68249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72768"/>
            <a:ext cx="1062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Audit Office. Investigation: WannaCry cyber attack and the NHS. https://www.nao.org.uk/reports/investigation-wannacry-cyber-attack-and-the-nhs/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822960" y="218541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75688"/>
            <a:ext cx="1062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HHS ASPR. Cybersecurity in Health Care: Protecting Patients from Attacks. https://aspr.hhs.gov/cyber/Pages/default.aspx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22960" y="268833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578608"/>
            <a:ext cx="1062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CISA. Stop Ransomware. https://www.cisa.gov/Ransomware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49808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credits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424281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133088"/>
            <a:ext cx="6419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Doctor-patient image: RDNE Stock Project / Pexels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22960" y="460857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498848"/>
            <a:ext cx="6419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monitoring image: Tima Miroshnichenko / Pexels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22960" y="497433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864608"/>
            <a:ext cx="6419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discussion image: OfficialDesign Africa / Pexels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22960" y="5340096"/>
            <a:ext cx="100584" cy="100584"/>
          </a:xfrm>
          <a:prstGeom prst="ellipse">
            <a:avLst/>
          </a:prstGeom>
          <a:solidFill>
            <a:srgbClr val="20B8C9"/>
          </a:solidFill>
          <a:ln w="12700">
            <a:solidFill>
              <a:srgbClr val="20B8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230368"/>
            <a:ext cx="6419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8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logo used from the local MediZyra workspace assets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726680" y="3977640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0C274A"/>
          </a:solidFill>
          <a:ln w="12700">
            <a:solidFill>
              <a:srgbClr val="0C27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4343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details can be filled before submission.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is designed for direct classroom presentation.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7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MediZyra Presentation  |  Slide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MediZyra Healthcare Solutions - Cyber Resilience Presentation</dc:title>
  <dc:subject>MediZyra cyber-resilient healthcare system presentation</dc:subject>
  <dc:creator>OpenAI Codex</dc:creator>
  <cp:lastModifiedBy>OpenAI Codex</cp:lastModifiedBy>
  <cp:revision>1</cp:revision>
  <dcterms:created xsi:type="dcterms:W3CDTF">2026-04-03T14:45:21Z</dcterms:created>
  <dcterms:modified xsi:type="dcterms:W3CDTF">2026-04-03T14:45:21Z</dcterms:modified>
</cp:coreProperties>
</file>